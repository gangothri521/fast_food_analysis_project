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5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4B444B0-658E-38C5-B230-C356D5E129C6}">
          <p14:sldIdLst>
            <p14:sldId id="256"/>
            <p14:sldId id="257"/>
            <p14:sldId id="258"/>
          </p14:sldIdLst>
        </p14:section>
        <p14:section name="Data and dashboard" id="{B02CF9F0-CCD9-49C5-7B85-028191D51160}">
          <p14:sldIdLst>
            <p14:sldId id="259"/>
            <p14:sldId id="260"/>
          </p14:sldIdLst>
        </p14:section>
        <p14:section name="Key findings" id="{6F54CC77-07A3-BF44-4EFE-3E8087916593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Conclusions" id="{DE769FDA-3672-32A8-55D8-4BD7DE63DCF7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+mn-lt"/>
              </a:defRPr>
            </a:pPr>
            <a:r>
              <a:rPr lang="en-US" sz="1200" b="0" i="0" u="none" strike="noStrike">
                <a:solidFill>
                  <a:srgbClr val="6B7280"/>
                </a:solidFill>
                <a:latin typeface="+mn-lt"/>
              </a:rPr>
              <a:t>Highest-calorie items (calories)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Calories</c:v>
                </c:pt>
              </c:strCache>
            </c:strRef>
          </c:tx>
          <c:spPr>
            <a:solidFill>
              <a:srgbClr val="DA291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22304D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 pc Buttermilk Tenders</c:v>
                </c:pt>
                <c:pt idx="1">
                  <c:v>40 pc McNuggets</c:v>
                </c:pt>
                <c:pt idx="2">
                  <c:v>10 pc Honey BBQ Tenders</c:v>
                </c:pt>
                <c:pt idx="3">
                  <c:v>12 pc Buttermilk Tenders</c:v>
                </c:pt>
                <c:pt idx="4">
                  <c:v>10 pc Buttermilk Tenders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2430</c:v>
                </c:pt>
                <c:pt idx="1">
                  <c:v>1770</c:v>
                </c:pt>
                <c:pt idx="2">
                  <c:v>1600</c:v>
                </c:pt>
                <c:pt idx="3">
                  <c:v>1510</c:v>
                </c:pt>
                <c:pt idx="4">
                  <c:v>1210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74-457F-B9F8-50DDC03188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30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90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+mn-lt"/>
              </a:defRPr>
            </a:pPr>
            <a:r>
              <a:rPr lang="en-US" sz="1200" b="0" i="0" u="none" strike="noStrike">
                <a:solidFill>
                  <a:srgbClr val="6B7280"/>
                </a:solidFill>
                <a:latin typeface="+mn-lt"/>
              </a:rPr>
              <a:t>Highest-sodium items (mg)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Sodium</c:v>
                </c:pt>
              </c:strCache>
            </c:strRef>
          </c:tx>
          <c:spPr>
            <a:solidFill>
              <a:srgbClr val="2230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22304D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 pc Buttermilk Tenders</c:v>
                </c:pt>
                <c:pt idx="1">
                  <c:v>10 pc Honey BBQ Tenders</c:v>
                </c:pt>
                <c:pt idx="2">
                  <c:v>12 pc Buttermilk Tenders</c:v>
                </c:pt>
                <c:pt idx="3">
                  <c:v>40 pc McNuggets</c:v>
                </c:pt>
                <c:pt idx="4">
                  <c:v>10 pc Buttermilk Tenders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6080</c:v>
                </c:pt>
                <c:pt idx="1">
                  <c:v>4450</c:v>
                </c:pt>
                <c:pt idx="2">
                  <c:v>3770</c:v>
                </c:pt>
                <c:pt idx="3">
                  <c:v>3370</c:v>
                </c:pt>
                <c:pt idx="4">
                  <c:v>3230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DB-4578-B4AD-418B4FE9721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30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20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+mn-lt"/>
              </a:defRPr>
            </a:pPr>
            <a:r>
              <a:rPr lang="en-US" sz="1200" b="0" i="0" u="none" strike="noStrike">
                <a:solidFill>
                  <a:srgbClr val="6B7280"/>
                </a:solidFill>
                <a:latin typeface="+mn-lt"/>
              </a:rPr>
              <a:t>Highest saturated fat items (g)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Saturated fat</c:v>
                </c:pt>
              </c:strCache>
            </c:strRef>
          </c:tx>
          <c:spPr>
            <a:solidFill>
              <a:srgbClr val="F5A800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22304D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Double Bacon Smokehouse Burger</c:v>
                </c:pt>
                <c:pt idx="1">
                  <c:v>20 pc Buttermilk Tenders</c:v>
                </c:pt>
                <c:pt idx="2">
                  <c:v>Double Quarter Pounder with Cheese</c:v>
                </c:pt>
                <c:pt idx="3">
                  <c:v>40 pc McNuggets</c:v>
                </c:pt>
                <c:pt idx="4">
                  <c:v>Single Bacon Smokehouse Burger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</c:v>
                </c:pt>
                <c:pt idx="1">
                  <c:v>24</c:v>
                </c:pt>
                <c:pt idx="2">
                  <c:v>21</c:v>
                </c:pt>
                <c:pt idx="3">
                  <c:v>18</c:v>
                </c:pt>
                <c:pt idx="4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04-48BB-8457-2F2A47EF75E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30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+mn-lt"/>
              </a:defRPr>
            </a:pPr>
            <a:r>
              <a:rPr lang="it-IT" sz="1200" b="0" i="0" u="none" strike="noStrike">
                <a:solidFill>
                  <a:srgbClr val="6B7280"/>
                </a:solidFill>
                <a:latin typeface="+mn-lt"/>
              </a:rPr>
              <a:t>Protein (g) per 100 calories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Protein per 100 Cal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22304D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Bacon Ranch Salad, Grilled</c:v>
                </c:pt>
                <c:pt idx="1">
                  <c:v>Asian Salad, Grilled</c:v>
                </c:pt>
                <c:pt idx="2">
                  <c:v>Southwest Salad, Grilled</c:v>
                </c:pt>
                <c:pt idx="3">
                  <c:v>Artisan Grilled Sandwich</c:v>
                </c:pt>
                <c:pt idx="4">
                  <c:v>Maple Bacon Dijon Sandwich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13.13</c:v>
                </c:pt>
                <c:pt idx="1">
                  <c:v>11.48</c:v>
                </c:pt>
                <c:pt idx="2">
                  <c:v>10.57</c:v>
                </c:pt>
                <c:pt idx="3">
                  <c:v>9.74</c:v>
                </c:pt>
                <c:pt idx="4">
                  <c:v>8.2799999999999994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C2-4CE2-A441-4C2294C0DA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30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.5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Menu share by calorie level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5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AA4C-4499-8417-F1E328CBB708}"/>
              </c:ext>
            </c:extLst>
          </c:dPt>
          <c:dPt>
            <c:idx val="1"/>
            <c:bubble3D val="0"/>
            <c:spPr>
              <a:solidFill>
                <a:srgbClr val="3B6FB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AA4C-4499-8417-F1E328CBB708}"/>
              </c:ext>
            </c:extLst>
          </c:dPt>
          <c:dPt>
            <c:idx val="2"/>
            <c:bubble3D val="0"/>
            <c:spPr>
              <a:solidFill>
                <a:srgbClr val="DA291C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AA4C-4499-8417-F1E328CBB708}"/>
              </c:ext>
            </c:extLst>
          </c:dPt>
          <c:dLbls>
            <c:dLbl>
              <c:idx val="0"/>
              <c:layout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AA4C-4499-8417-F1E328CBB708}"/>
                </c:ext>
              </c:extLst>
            </c:dLbl>
            <c:dLbl>
              <c:idx val="1"/>
              <c:layout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AA4C-4499-8417-F1E328CBB708}"/>
                </c:ext>
              </c:extLst>
            </c:dLbl>
            <c:dLbl>
              <c:idx val="2"/>
              <c:layout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AA4C-4499-8417-F1E328CBB708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Low (under 300)</c:v>
                </c:pt>
                <c:pt idx="1">
                  <c:v>Medium (300 to 600)</c:v>
                </c:pt>
                <c:pt idx="2">
                  <c:v>High (over 600)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25</c:v>
                </c:pt>
                <c:pt idx="2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A4C-4499-8417-F1E328CBB7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6596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project. I analysed McDonald's from the fast-food nutrition dataset and built a dashboard to explain why its numbers look the way they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has 512 records across 8 chains. McDonald's has 57 items. The brief mentions average price, but there is no price column, so nutrition measures were used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dataset and be upfront about the limitations. The data cannot tell us what customers actually buy, and the results show relationships rather than proof of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cleaning steps. Blanks were kept as blanks rather than replaced with zero, and three derived columns support the later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dashboard: five KPI cards, the charts and the three slicers (Calorie Category, Restaurant and Salad). Selecting a slicer updates every visual. McDonald's averages: 640.35 calories, 1,437.89 mg sodium and 40.30 g protein.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Calories range from 140 to 2,430. The top five are all large chicken portions, listed as single items, which pulls the average up to 640.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left table lists the highest-calorie items and the right table lists the lightest, such as the Premium Asian Salad without chicken at 140 calories.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fried chicken items lead on sodium. The 20-piece tenders have 6,080 mg, more than double the commonly cited daily limit of 2,300 mg.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tables show sodium and saturated fat on the same row, so you can compare the two measures for each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Multi-layer burgers rank at the top for saturated fat even when their calories are lower than the 20-piece tenders. An item can be high risk for one measure without being highest in another.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Salads average 332 calories against 698 for other items, and sodium is about half. Protein is also lower because there is less meat. Toppings and dressings still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non-salad bars are roughly twice as long for calories and sodium. The count bars show the groups differ in size: 48 non-salad items against 9 salads.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ratio shows the best nutritional value. Grilled chicken salads and sandwiches lead because they give a lot of protein for few calories.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Protein per 100 Calories column ranks items by protein efficiency instead of total protein. Large fried tender portions deliver high absolute protein but at a high calorie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scatter charts rise tightly along a linear trend. Correlation of calories with fat is about 0.97, and with sodium and protein about 0.95. This shows a relationship, not proof of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 57 items, 8 are low calorie, 25 are medium and 24 are high. The menu is built around burgers, sandwiches and fried chicken, with few light options.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five main insights and the evidence behind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recommendations, each tied to a finding. The last is about data: price and sales data would let us link nutrition to real customer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main takeaway and mention the limitation: no price or sales data. Then thank the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051560"/>
            <a:ext cx="5943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514600"/>
            <a:ext cx="57607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800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McDonald's Nutrition Analysis  |  CDACL-004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1645920"/>
            <a:ext cx="67665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red circle"/>
          <p:cNvSpPr/>
          <p:nvPr/>
        </p:nvSpPr>
        <p:spPr>
          <a:xfrm>
            <a:off x="6720840" y="64008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Decor gold circle"/>
          <p:cNvSpPr/>
          <p:nvPr/>
        </p:nvSpPr>
        <p:spPr>
          <a:xfrm>
            <a:off x="7726680" y="246888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0515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McDonald's </a:t>
            </a:r>
            <a:r>
              <a:rPr lang="en-US" sz="3400" b="1" dirty="0" smtClean="0">
                <a:solidFill>
                  <a:schemeClr val="bg1"/>
                </a:solidFill>
              </a:rPr>
              <a:t>: </a:t>
            </a:r>
            <a:r>
              <a:rPr lang="en-US" sz="3400" b="1" dirty="0">
                <a:solidFill>
                  <a:schemeClr val="bg1"/>
                </a:solidFill>
              </a:rPr>
              <a:t>A Diagnostic Analysis</a:t>
            </a:r>
            <a:endParaRPr lang="en-US" sz="34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5146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/>
              <a:t>Diagnostic analysis of the fast-food dataset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4612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Prepared by: Gangothri M C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Batch / Team: PTID-CDA-SEP-26-11268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Date: </a:t>
            </a:r>
            <a:r>
              <a:rPr lang="en-US" sz="1400" b="1" dirty="0" smtClean="0">
                <a:solidFill>
                  <a:schemeClr val="bg1"/>
                </a:solidFill>
              </a:rPr>
              <a:t>14-10-2026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97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chemeClr val="bg2"/>
                </a:solidFill>
              </a:rPr>
              <a:t>Project GitHub Link </a:t>
            </a:r>
            <a:r>
              <a:rPr lang="en-US" sz="1200" dirty="0">
                <a:solidFill>
                  <a:schemeClr val="bg2"/>
                </a:solidFill>
              </a:rPr>
              <a:t>https://github.com/Gangothri521/Fast_Food_Analysis_project.git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The project at a glance</a:t>
            </a:r>
            <a:endParaRPr lang="en-US" sz="3000" dirty="0"/>
          </a:p>
        </p:txBody>
      </p:sp>
      <p:sp>
        <p:nvSpPr>
          <p:cNvPr id="3" name="Stat card 1"/>
          <p:cNvSpPr/>
          <p:nvPr/>
        </p:nvSpPr>
        <p:spPr>
          <a:xfrm>
            <a:off x="457200" y="114300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512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11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records in the dataset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3291840" y="114300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520440" y="12801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011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restaurant chains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6126480" y="114300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55080" y="12801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57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011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McDonald's menu items</a:t>
            </a:r>
            <a:endParaRPr lang="en-US" sz="1400" dirty="0"/>
          </a:p>
        </p:txBody>
      </p:sp>
      <p:sp>
        <p:nvSpPr>
          <p:cNvPr id="12" name="Goal card"/>
          <p:cNvSpPr/>
          <p:nvPr/>
        </p:nvSpPr>
        <p:spPr>
          <a:xfrm>
            <a:off x="457200" y="2788920"/>
            <a:ext cx="4023360" cy="1783080"/>
          </a:xfrm>
          <a:prstGeom prst="roundRect">
            <a:avLst>
              <a:gd name="adj" fmla="val 4103"/>
            </a:avLst>
          </a:prstGeom>
          <a:solidFill>
            <a:schemeClr val="tx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5800" y="2971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GOAL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273552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Explain why McDonald's calories, sodium and protein look the way they do, and recommend evidence-based improvements.</a:t>
            </a:r>
            <a:endParaRPr lang="en-US" sz="1400" dirty="0"/>
          </a:p>
        </p:txBody>
      </p:sp>
      <p:sp>
        <p:nvSpPr>
          <p:cNvPr id="15" name="Limitation card"/>
          <p:cNvSpPr/>
          <p:nvPr/>
        </p:nvSpPr>
        <p:spPr>
          <a:xfrm>
            <a:off x="4663440" y="2788920"/>
            <a:ext cx="40233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892040" y="2971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LIMITATION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3273552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dataset has no price column, so nutrition measures replace the average price named in the project brief.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Dataset and limitations</a:t>
            </a:r>
            <a:endParaRPr lang="en-US" sz="3000" dirty="0"/>
          </a:p>
        </p:txBody>
      </p:sp>
      <p:sp>
        <p:nvSpPr>
          <p:cNvPr id="3" name="Dataset card"/>
          <p:cNvSpPr/>
          <p:nvPr/>
        </p:nvSpPr>
        <p:spPr>
          <a:xfrm>
            <a:off x="457200" y="1143000"/>
            <a:ext cx="402336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dataset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MySQL table: 512 records, 8 restaurants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McDonald's subset: 57 menu items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Calories, fats, cholesterol, sodium, carbs, fiber, sugar and protein per item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Vitamins and calcium as % of daily value</a:t>
            </a:r>
            <a:endParaRPr lang="en-US" sz="1400" dirty="0"/>
          </a:p>
        </p:txBody>
      </p:sp>
      <p:sp>
        <p:nvSpPr>
          <p:cNvPr id="6" name="Limitations card"/>
          <p:cNvSpPr/>
          <p:nvPr/>
        </p:nvSpPr>
        <p:spPr>
          <a:xfrm>
            <a:off x="4663440" y="1143000"/>
            <a:ext cx="402336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9204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8308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price column, so no average price analysis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Missing fiber and vitamin values for some chains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Salad column holds "Other" in every row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portion weights or sales figures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Correlation, not proof of cause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Cleaning the data</a:t>
            </a:r>
            <a:endParaRPr lang="en-US" sz="3000" dirty="0"/>
          </a:p>
        </p:txBody>
      </p:sp>
      <p:sp>
        <p:nvSpPr>
          <p:cNvPr id="3" name="Cleaning step card 1"/>
          <p:cNvSpPr/>
          <p:nvPr/>
        </p:nvSpPr>
        <p:spPr>
          <a:xfrm>
            <a:off x="457200" y="1143000"/>
            <a:ext cx="822960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tep circle 1"/>
          <p:cNvSpPr/>
          <p:nvPr/>
        </p:nvSpPr>
        <p:spPr>
          <a:xfrm>
            <a:off x="658368" y="130759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307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2344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Removed useless columns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123444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satish (empty), age (all zeros) and salad (no information)</a:t>
            </a:r>
            <a:endParaRPr lang="en-US" sz="1400" dirty="0"/>
          </a:p>
        </p:txBody>
      </p:sp>
      <p:sp>
        <p:nvSpPr>
          <p:cNvPr id="8" name="Cleaning step card 2"/>
          <p:cNvSpPr/>
          <p:nvPr/>
        </p:nvSpPr>
        <p:spPr>
          <a:xfrm>
            <a:off x="457200" y="2011680"/>
            <a:ext cx="822960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tep circle 2"/>
          <p:cNvSpPr/>
          <p:nvPr/>
        </p:nvSpPr>
        <p:spPr>
          <a:xfrm>
            <a:off x="658368" y="217627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" y="2176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1031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Removed duplicates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210312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 duplicate Taco Bell record removed (512 to 511 rows)</a:t>
            </a:r>
            <a:endParaRPr lang="en-US" sz="1400" dirty="0"/>
          </a:p>
        </p:txBody>
      </p:sp>
      <p:sp>
        <p:nvSpPr>
          <p:cNvPr id="13" name="Cleaning step card 3"/>
          <p:cNvSpPr/>
          <p:nvPr/>
        </p:nvSpPr>
        <p:spPr>
          <a:xfrm>
            <a:off x="457200" y="2880360"/>
            <a:ext cx="822960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tep circle 3"/>
          <p:cNvSpPr/>
          <p:nvPr/>
        </p:nvSpPr>
        <p:spPr>
          <a:xfrm>
            <a:off x="658368" y="304495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3044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29718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Fixed missing values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297180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"NA" replaced with null and numeric types set; blanks kept, not zero</a:t>
            </a:r>
            <a:endParaRPr lang="en-US" sz="1400" dirty="0"/>
          </a:p>
        </p:txBody>
      </p:sp>
      <p:sp>
        <p:nvSpPr>
          <p:cNvPr id="18" name="Cleaning step card 4"/>
          <p:cNvSpPr/>
          <p:nvPr/>
        </p:nvSpPr>
        <p:spPr>
          <a:xfrm>
            <a:off x="457200" y="3749040"/>
            <a:ext cx="822960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tep circle 4"/>
          <p:cNvSpPr/>
          <p:nvPr/>
        </p:nvSpPr>
        <p:spPr>
          <a:xfrm>
            <a:off x="658368" y="391363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3913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38404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Created new columns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023360" y="384048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Calorie Category, Is Salad and Protein per 100 Cal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The dashboard</a:t>
            </a:r>
            <a:endParaRPr lang="en-US" sz="3000" dirty="0"/>
          </a:p>
        </p:txBody>
      </p:sp>
      <p:sp>
        <p:nvSpPr>
          <p:cNvPr id="3" name="Dashboard screenshot frame"/>
          <p:cNvSpPr/>
          <p:nvPr/>
        </p:nvSpPr>
        <p:spPr>
          <a:xfrm>
            <a:off x="384048" y="1024128"/>
            <a:ext cx="6364224" cy="3659661"/>
          </a:xfrm>
          <a:prstGeom prst="roundRect">
            <a:avLst>
              <a:gd name="adj" fmla="val 1499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4" name="Dashboard screenshot" descr="Dashboard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6217920" cy="3513357"/>
          </a:xfrm>
          <a:prstGeom prst="rect">
            <a:avLst/>
          </a:prstGeom>
        </p:spPr>
      </p:pic>
      <p:sp>
        <p:nvSpPr>
          <p:cNvPr id="5" name="KPI tile 1"/>
          <p:cNvSpPr/>
          <p:nvPr/>
        </p:nvSpPr>
        <p:spPr>
          <a:xfrm>
            <a:off x="6995160" y="1097280"/>
            <a:ext cx="16916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132320" y="12801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640.35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132320" y="1719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average calories</a:t>
            </a:r>
            <a:endParaRPr lang="en-US" sz="1200" dirty="0"/>
          </a:p>
        </p:txBody>
      </p:sp>
      <p:sp>
        <p:nvSpPr>
          <p:cNvPr id="8" name="KPI tile 2"/>
          <p:cNvSpPr/>
          <p:nvPr/>
        </p:nvSpPr>
        <p:spPr>
          <a:xfrm>
            <a:off x="6995160" y="2286000"/>
            <a:ext cx="16916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132320" y="24688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1,437.89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9077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average sodium (mg)</a:t>
            </a:r>
            <a:endParaRPr lang="en-US" sz="1200" dirty="0"/>
          </a:p>
        </p:txBody>
      </p:sp>
      <p:sp>
        <p:nvSpPr>
          <p:cNvPr id="11" name="KPI tile 3"/>
          <p:cNvSpPr/>
          <p:nvPr/>
        </p:nvSpPr>
        <p:spPr>
          <a:xfrm>
            <a:off x="6995160" y="3474720"/>
            <a:ext cx="16916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132320" y="36576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40.30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0" y="4096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average protein (g)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Big portions drive calories</a:t>
            </a:r>
            <a:endParaRPr lang="en-US" sz="3000" dirty="0"/>
          </a:p>
        </p:txBody>
      </p:sp>
      <p:graphicFrame>
        <p:nvGraphicFramePr>
          <p:cNvPr id="3" name="Top calorie items chart"/>
          <p:cNvGraphicFramePr/>
          <p:nvPr/>
        </p:nvGraphicFramePr>
        <p:xfrm>
          <a:off x="457200" y="1097280"/>
          <a:ext cx="53035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alories callout"/>
          <p:cNvSpPr/>
          <p:nvPr/>
        </p:nvSpPr>
        <p:spPr>
          <a:xfrm>
            <a:off x="5943600" y="1097280"/>
            <a:ext cx="2743200" cy="352044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126480" y="1280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DA291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140 to 2,430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calories per item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28600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Why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Multi-piece sharing portions, breaded and fried.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Meaning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Single items are far lower: Hamburger 250, Cheeseburger 300.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Top 10 and bottom 10 items by calories</a:t>
            </a:r>
            <a:endParaRPr lang="en-US" sz="3000" dirty="0"/>
          </a:p>
        </p:txBody>
      </p:sp>
      <p:sp>
        <p:nvSpPr>
          <p:cNvPr id="3" name="Top and bottom items by calories frame"/>
          <p:cNvSpPr/>
          <p:nvPr/>
        </p:nvSpPr>
        <p:spPr>
          <a:xfrm>
            <a:off x="1115568" y="1024128"/>
            <a:ext cx="6912864" cy="3114347"/>
          </a:xfrm>
          <a:prstGeom prst="roundRect">
            <a:avLst>
              <a:gd name="adj" fmla="val 176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4" name="Top and bottom items by calories" descr="Top and bottom items by calori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097280"/>
            <a:ext cx="6766560" cy="296804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6"/>
                </a:solidFill>
              </a:rPr>
              <a:t>Left: highest-calorie items. Right: lightest items. Together they show the full range of the menu.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Sodium runs very high</a:t>
            </a:r>
            <a:endParaRPr lang="en-US" sz="3000" dirty="0"/>
          </a:p>
        </p:txBody>
      </p:sp>
      <p:graphicFrame>
        <p:nvGraphicFramePr>
          <p:cNvPr id="3" name="Top sodium items chart"/>
          <p:cNvGraphicFramePr/>
          <p:nvPr/>
        </p:nvGraphicFramePr>
        <p:xfrm>
          <a:off x="457200" y="1097280"/>
          <a:ext cx="53035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odium callout"/>
          <p:cNvSpPr/>
          <p:nvPr/>
        </p:nvSpPr>
        <p:spPr>
          <a:xfrm>
            <a:off x="5943600" y="1097280"/>
            <a:ext cx="2743200" cy="352044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126480" y="1280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2304D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 of 57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items above 1,500 mg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28600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Why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Breading, sauces, cheese and processed meat add salt.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Meaning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Six items exceed 2,300 mg, the commonly cited daily limit.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Sodium and saturated fat by item</a:t>
            </a:r>
            <a:endParaRPr lang="en-US" sz="3000" dirty="0"/>
          </a:p>
        </p:txBody>
      </p:sp>
      <p:sp>
        <p:nvSpPr>
          <p:cNvPr id="3" name="Sodium and saturated fat tables frame"/>
          <p:cNvSpPr/>
          <p:nvPr/>
        </p:nvSpPr>
        <p:spPr>
          <a:xfrm>
            <a:off x="384048" y="1024128"/>
            <a:ext cx="8375904" cy="2666191"/>
          </a:xfrm>
          <a:prstGeom prst="roundRect">
            <a:avLst>
              <a:gd name="adj" fmla="val 2058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4" name="Sodium and saturated fat tables" descr="Sodium and saturated fat tab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8229600" cy="2519887"/>
          </a:xfrm>
          <a:prstGeom prst="rect">
            <a:avLst/>
          </a:prstGeom>
        </p:spPr>
      </p:pic>
      <p:sp>
        <p:nvSpPr>
          <p:cNvPr id="5" name="Sodium takeaway"/>
          <p:cNvSpPr/>
          <p:nvPr/>
        </p:nvSpPr>
        <p:spPr>
          <a:xfrm>
            <a:off x="457200" y="3840480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3931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6,080 mg </a:t>
            </a:r>
            <a:r>
              <a:rPr lang="en-US" sz="1400" dirty="0">
                <a:solidFill>
                  <a:schemeClr val="tx1"/>
                </a:solidFill>
              </a:rPr>
              <a:t>sodium in the 20-piece tenders, the highest on the menu</a:t>
            </a:r>
            <a:endParaRPr lang="en-US" sz="1400" dirty="0"/>
          </a:p>
        </p:txBody>
      </p:sp>
      <p:sp>
        <p:nvSpPr>
          <p:cNvPr id="7" name="Saturated fat takeaway"/>
          <p:cNvSpPr/>
          <p:nvPr/>
        </p:nvSpPr>
        <p:spPr>
          <a:xfrm>
            <a:off x="4663440" y="3840480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846320" y="3931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27 g </a:t>
            </a:r>
            <a:r>
              <a:rPr lang="en-US" sz="1400" dirty="0">
                <a:solidFill>
                  <a:schemeClr val="tx1"/>
                </a:solidFill>
              </a:rPr>
              <a:t>saturated fat in the Double Bacon Smokehouse Burger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Saturated fat peaks in burgers and big tenders</a:t>
            </a:r>
            <a:endParaRPr lang="en-US" sz="3000" dirty="0"/>
          </a:p>
        </p:txBody>
      </p:sp>
      <p:graphicFrame>
        <p:nvGraphicFramePr>
          <p:cNvPr id="3" name="Saturated fat chart"/>
          <p:cNvGraphicFramePr/>
          <p:nvPr/>
        </p:nvGraphicFramePr>
        <p:xfrm>
          <a:off x="457200" y="1051560"/>
          <a:ext cx="822960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Why card"/>
          <p:cNvSpPr/>
          <p:nvPr/>
        </p:nvSpPr>
        <p:spPr>
          <a:xfrm>
            <a:off x="457200" y="3840480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40080" y="3931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Why: </a:t>
            </a:r>
            <a:r>
              <a:rPr lang="en-US" sz="1400" dirty="0">
                <a:solidFill>
                  <a:schemeClr val="tx1"/>
                </a:solidFill>
              </a:rPr>
              <a:t>double patties, bacon and cheese are rich in saturated fat.</a:t>
            </a:r>
            <a:endParaRPr lang="en-US" sz="1400" dirty="0"/>
          </a:p>
        </p:txBody>
      </p:sp>
      <p:sp>
        <p:nvSpPr>
          <p:cNvPr id="6" name="Meaning card"/>
          <p:cNvSpPr/>
          <p:nvPr/>
        </p:nvSpPr>
        <p:spPr>
          <a:xfrm>
            <a:off x="4663440" y="3840480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4846320" y="3931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Meaning: </a:t>
            </a:r>
            <a:r>
              <a:rPr lang="en-US" sz="1400" dirty="0">
                <a:solidFill>
                  <a:schemeClr val="tx1"/>
                </a:solidFill>
              </a:rPr>
              <a:t>judge calories, sodium and saturated fat separately.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Salads are far lighter</a:t>
            </a:r>
            <a:endParaRPr lang="en-US" sz="3000" dirty="0"/>
          </a:p>
        </p:txBody>
      </p:sp>
      <p:sp>
        <p:nvSpPr>
          <p:cNvPr id="3" name="Salads (9 items) card"/>
          <p:cNvSpPr/>
          <p:nvPr/>
        </p:nvSpPr>
        <p:spPr>
          <a:xfrm>
            <a:off x="457200" y="1143000"/>
            <a:ext cx="40233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2984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Salads (9 items)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332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calories on average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Sodium: </a:t>
            </a:r>
            <a:r>
              <a:rPr lang="en-US" sz="1400" b="1" dirty="0">
                <a:solidFill>
                  <a:schemeClr val="tx1"/>
                </a:solidFill>
              </a:rPr>
              <a:t>824 mg     </a:t>
            </a:r>
            <a:r>
              <a:rPr lang="en-US" sz="1400" dirty="0">
                <a:solidFill>
                  <a:schemeClr val="accent6"/>
                </a:solidFill>
              </a:rPr>
              <a:t>Protein: </a:t>
            </a:r>
            <a:r>
              <a:rPr lang="en-US" sz="1400" b="1" dirty="0">
                <a:solidFill>
                  <a:schemeClr val="tx1"/>
                </a:solidFill>
              </a:rPr>
              <a:t>26 g</a:t>
            </a:r>
            <a:endParaRPr lang="en-US" sz="1400" dirty="0"/>
          </a:p>
        </p:txBody>
      </p:sp>
      <p:sp>
        <p:nvSpPr>
          <p:cNvPr id="8" name="Non-salads (48 items) card"/>
          <p:cNvSpPr/>
          <p:nvPr/>
        </p:nvSpPr>
        <p:spPr>
          <a:xfrm>
            <a:off x="4663440" y="1143000"/>
            <a:ext cx="40233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937760" y="12984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Non-salads (48 items)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6916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698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calories on average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Sodium: </a:t>
            </a:r>
            <a:r>
              <a:rPr lang="en-US" sz="1400" b="1" dirty="0">
                <a:solidFill>
                  <a:schemeClr val="tx1"/>
                </a:solidFill>
              </a:rPr>
              <a:t>1,553 mg     </a:t>
            </a:r>
            <a:r>
              <a:rPr lang="en-US" sz="1400" dirty="0">
                <a:solidFill>
                  <a:schemeClr val="accent6"/>
                </a:solidFill>
              </a:rPr>
              <a:t>Protein: </a:t>
            </a:r>
            <a:r>
              <a:rPr lang="en-US" sz="1400" b="1" dirty="0">
                <a:solidFill>
                  <a:schemeClr val="tx1"/>
                </a:solidFill>
              </a:rPr>
              <a:t>43 g</a:t>
            </a:r>
            <a:endParaRPr lang="en-US" sz="1400" dirty="0"/>
          </a:p>
        </p:txBody>
      </p:sp>
      <p:sp>
        <p:nvSpPr>
          <p:cNvPr id="13" name="Why card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85800" y="38404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Why: </a:t>
            </a:r>
            <a:r>
              <a:rPr lang="en-US" sz="1400" dirty="0">
                <a:solidFill>
                  <a:schemeClr val="bg1"/>
                </a:solidFill>
              </a:rPr>
              <a:t>salads replace buns, fries, fried coatings and cheese with vegetables, so calories and sodium are roughly halved. Protein is lower because there is less meat.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Salads vs non-salads: four measures</a:t>
            </a:r>
            <a:endParaRPr lang="en-US" sz="3000" dirty="0"/>
          </a:p>
        </p:txBody>
      </p:sp>
      <p:sp>
        <p:nvSpPr>
          <p:cNvPr id="3" name="Salad vs non-salad chart frame"/>
          <p:cNvSpPr/>
          <p:nvPr/>
        </p:nvSpPr>
        <p:spPr>
          <a:xfrm>
            <a:off x="1298448" y="1024128"/>
            <a:ext cx="6547104" cy="3188460"/>
          </a:xfrm>
          <a:prstGeom prst="roundRect">
            <a:avLst>
              <a:gd name="adj" fmla="val 172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4" name="Salad vs non-salad chart" descr="Salad vs non-salad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097280"/>
            <a:ext cx="6400800" cy="30421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6"/>
                </a:solidFill>
              </a:rPr>
              <a:t>Calories, protein, sodium and item count by group. Sodium dominates the scale, so read the data labels.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Best protein per calorie</a:t>
            </a:r>
            <a:endParaRPr lang="en-US" sz="3000" dirty="0"/>
          </a:p>
        </p:txBody>
      </p:sp>
      <p:graphicFrame>
        <p:nvGraphicFramePr>
          <p:cNvPr id="3" name="Protein per 100 calories chart"/>
          <p:cNvGraphicFramePr/>
          <p:nvPr/>
        </p:nvGraphicFramePr>
        <p:xfrm>
          <a:off x="457200" y="1097280"/>
          <a:ext cx="53035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Protein callout"/>
          <p:cNvSpPr/>
          <p:nvPr/>
        </p:nvSpPr>
        <p:spPr>
          <a:xfrm>
            <a:off x="5943600" y="1097280"/>
            <a:ext cx="2743200" cy="352044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126480" y="1280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E7D5B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13.13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g protein per 100 calories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28600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Why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Grilled chicken is lean protein, with no breading or frying.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Meaning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Bacon Ranch Salad gives 42 g protein for 320 calories.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Most protein for the fewest calories</a:t>
            </a:r>
            <a:endParaRPr lang="en-US" sz="3000" dirty="0"/>
          </a:p>
        </p:txBody>
      </p:sp>
      <p:sp>
        <p:nvSpPr>
          <p:cNvPr id="3" name="Protein per 100 calories table frame"/>
          <p:cNvSpPr/>
          <p:nvPr/>
        </p:nvSpPr>
        <p:spPr>
          <a:xfrm>
            <a:off x="566928" y="1024128"/>
            <a:ext cx="8010144" cy="2832246"/>
          </a:xfrm>
          <a:prstGeom prst="roundRect">
            <a:avLst>
              <a:gd name="adj" fmla="val 1937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4" name="Protein per 100 calories table" descr="Protein per 100 calories 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7863840" cy="2685942"/>
          </a:xfrm>
          <a:prstGeom prst="rect">
            <a:avLst/>
          </a:prstGeom>
        </p:spPr>
      </p:pic>
      <p:sp>
        <p:nvSpPr>
          <p:cNvPr id="5" name="Reading card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39776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Reading the table: </a:t>
            </a:r>
            <a:r>
              <a:rPr lang="en-US" sz="1400" dirty="0">
                <a:solidFill>
                  <a:schemeClr val="tx1"/>
                </a:solidFill>
              </a:rPr>
              <a:t>fried tenders give high total protein but few grams per calorie (7.77 per 100 calories for the 10-piece, at 1,210 calories).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Fat drives calories</a:t>
            </a:r>
            <a:endParaRPr lang="en-US" sz="3000" dirty="0"/>
          </a:p>
        </p:txBody>
      </p:sp>
      <p:sp>
        <p:nvSpPr>
          <p:cNvPr id="3" name="Calories vs fat and sodium scatter plots frame"/>
          <p:cNvSpPr/>
          <p:nvPr/>
        </p:nvSpPr>
        <p:spPr>
          <a:xfrm>
            <a:off x="384048" y="1024128"/>
            <a:ext cx="5541264" cy="3402154"/>
          </a:xfrm>
          <a:prstGeom prst="roundRect">
            <a:avLst>
              <a:gd name="adj" fmla="val 1613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4" name="Calories vs fat and sodium scatter plots" descr="Calories vs fat and sodium scatter plo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5394960" cy="32558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17920" y="10972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0.97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7223760" y="1097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calories and total fat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81051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0.95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7223760" y="181051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calories and sodium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252374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0.95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7223760" y="252374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calories and protein</a:t>
            </a:r>
            <a:endParaRPr lang="en-US" sz="1400" dirty="0"/>
          </a:p>
        </p:txBody>
      </p:sp>
      <p:sp>
        <p:nvSpPr>
          <p:cNvPr id="11" name="Why card"/>
          <p:cNvSpPr/>
          <p:nvPr/>
        </p:nvSpPr>
        <p:spPr>
          <a:xfrm>
            <a:off x="6126480" y="3291840"/>
            <a:ext cx="25603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263640" y="338328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Why: </a:t>
            </a:r>
            <a:r>
              <a:rPr lang="en-US" sz="1400" dirty="0">
                <a:solidFill>
                  <a:schemeClr val="tx1"/>
                </a:solidFill>
              </a:rPr>
              <a:t>fat has 9 calories per gram versus 4 for carbs and protein.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Almost half the menu is high calorie</a:t>
            </a:r>
            <a:endParaRPr lang="en-US" sz="3000" dirty="0"/>
          </a:p>
        </p:txBody>
      </p:sp>
      <p:graphicFrame>
        <p:nvGraphicFramePr>
          <p:cNvPr id="3" name="Calorie level donut chart"/>
          <p:cNvGraphicFramePr/>
          <p:nvPr/>
        </p:nvGraphicFramePr>
        <p:xfrm>
          <a:off x="457200" y="1097280"/>
          <a:ext cx="365760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737360" y="25146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57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1737360" y="3017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menu items</a:t>
            </a:r>
            <a:endParaRPr lang="en-US" sz="1200" dirty="0"/>
          </a:p>
        </p:txBody>
      </p:sp>
      <p:sp>
        <p:nvSpPr>
          <p:cNvPr id="6" name="Share card 1"/>
          <p:cNvSpPr/>
          <p:nvPr/>
        </p:nvSpPr>
        <p:spPr>
          <a:xfrm>
            <a:off x="4480560" y="1143000"/>
            <a:ext cx="420624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Legend dot 1"/>
          <p:cNvSpPr/>
          <p:nvPr/>
        </p:nvSpPr>
        <p:spPr>
          <a:xfrm>
            <a:off x="4663440" y="1371600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120640" y="1234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Low (under 300)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120640" y="1527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8 items, 14.04%</a:t>
            </a:r>
            <a:endParaRPr lang="en-US" sz="1400" dirty="0"/>
          </a:p>
        </p:txBody>
      </p:sp>
      <p:sp>
        <p:nvSpPr>
          <p:cNvPr id="10" name="Share card 2"/>
          <p:cNvSpPr/>
          <p:nvPr/>
        </p:nvSpPr>
        <p:spPr>
          <a:xfrm>
            <a:off x="4480560" y="2011680"/>
            <a:ext cx="420624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Legend dot 2"/>
          <p:cNvSpPr/>
          <p:nvPr/>
        </p:nvSpPr>
        <p:spPr>
          <a:xfrm>
            <a:off x="4663440" y="2240280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120640" y="2103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Medium (300 to 600)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120640" y="2395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25 items, 43.86%</a:t>
            </a:r>
            <a:endParaRPr lang="en-US" sz="1400" dirty="0"/>
          </a:p>
        </p:txBody>
      </p:sp>
      <p:sp>
        <p:nvSpPr>
          <p:cNvPr id="14" name="Share card 3"/>
          <p:cNvSpPr/>
          <p:nvPr/>
        </p:nvSpPr>
        <p:spPr>
          <a:xfrm>
            <a:off x="4480560" y="2880360"/>
            <a:ext cx="420624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Legend dot 3"/>
          <p:cNvSpPr/>
          <p:nvPr/>
        </p:nvSpPr>
        <p:spPr>
          <a:xfrm>
            <a:off x="4663440" y="310896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120640" y="2971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High (over 600)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120640" y="32644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24 items, 42.11%</a:t>
            </a:r>
            <a:endParaRPr lang="en-US" sz="1400" dirty="0"/>
          </a:p>
        </p:txBody>
      </p:sp>
      <p:sp>
        <p:nvSpPr>
          <p:cNvPr id="18" name="Meaning card"/>
          <p:cNvSpPr/>
          <p:nvPr/>
        </p:nvSpPr>
        <p:spPr>
          <a:xfrm>
            <a:off x="4480560" y="3840480"/>
            <a:ext cx="42062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4663440" y="38862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Meaning: </a:t>
            </a:r>
            <a:r>
              <a:rPr lang="en-US" sz="1400" dirty="0">
                <a:solidFill>
                  <a:schemeClr val="bg1"/>
                </a:solidFill>
              </a:rPr>
              <a:t>low-calorie choices are limited; nearly one item in two exceeds 600 calories.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Diagnostic summary</a:t>
            </a:r>
            <a:endParaRPr lang="en-US" sz="3000" dirty="0"/>
          </a:p>
        </p:txBody>
      </p:sp>
      <p:graphicFrame>
        <p:nvGraphicFramePr>
          <p:cNvPr id="18" name="Diagnostic summar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34290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Insight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30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Evidence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3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2304D"/>
                          </a:solidFill>
                        </a:rPr>
                        <a:t>Large portions drive extremes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Calories reach 2,430 and sodium 6,080 mg in multi-piece fried sharing items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2304D"/>
                          </a:solidFill>
                        </a:rPr>
                        <a:t>Frying, breading, cheese, bacon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19 of 57 items exceed 1,500 mg sodium; saturated fat peaks at 27 g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2304D"/>
                          </a:solidFill>
                        </a:rPr>
                        <a:t>Fat is the main calorie driver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Calories and fat correlate at about 0.97; fat has 9 calories per gram vs 4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2304D"/>
                          </a:solidFill>
                        </a:rPr>
                        <a:t>Salads and grilled chicken lead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Salads average 332 vs 698 calories; grilled chicken gives up to 13.13 g protein per 100 calories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2304D"/>
                          </a:solidFill>
                        </a:rPr>
                        <a:t>The menu is calorie-heavy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42.11% of items exceed 600 calories; only 8 of 57 are under 300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Recommendations</a:t>
            </a:r>
            <a:endParaRPr lang="en-US" sz="3000" dirty="0"/>
          </a:p>
        </p:txBody>
      </p:sp>
      <p:sp>
        <p:nvSpPr>
          <p:cNvPr id="3" name="Recommendation card 1"/>
          <p:cNvSpPr/>
          <p:nvPr/>
        </p:nvSpPr>
        <p:spPr>
          <a:xfrm>
            <a:off x="457200" y="114300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Number circle 1"/>
          <p:cNvSpPr/>
          <p:nvPr/>
        </p:nvSpPr>
        <p:spPr>
          <a:xfrm>
            <a:off x="594360" y="12801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2527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Separate sharing portions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List sharing items apart from single servings so averages are not distorted</a:t>
            </a:r>
            <a:endParaRPr lang="en-US" sz="1400" dirty="0"/>
          </a:p>
        </p:txBody>
      </p:sp>
      <p:sp>
        <p:nvSpPr>
          <p:cNvPr id="8" name="Recommendation card 2"/>
          <p:cNvSpPr/>
          <p:nvPr/>
        </p:nvSpPr>
        <p:spPr>
          <a:xfrm>
            <a:off x="3291840" y="114300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Number circle 2"/>
          <p:cNvSpPr/>
          <p:nvPr/>
        </p:nvSpPr>
        <p:spPr>
          <a:xfrm>
            <a:off x="3429000" y="12801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2527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Add sodium warnings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Flag items above 1,500 mg (19 of 57 items)</a:t>
            </a:r>
            <a:endParaRPr lang="en-US" sz="1400" dirty="0"/>
          </a:p>
        </p:txBody>
      </p:sp>
      <p:sp>
        <p:nvSpPr>
          <p:cNvPr id="13" name="Recommendation card 3"/>
          <p:cNvSpPr/>
          <p:nvPr/>
        </p:nvSpPr>
        <p:spPr>
          <a:xfrm>
            <a:off x="6126480" y="114300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Number circle 3"/>
          <p:cNvSpPr/>
          <p:nvPr/>
        </p:nvSpPr>
        <p:spPr>
          <a:xfrm>
            <a:off x="6263640" y="12801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6364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12527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Promote grilled options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Best protein per calorie on the menu</a:t>
            </a:r>
            <a:endParaRPr lang="en-US" sz="1400" dirty="0"/>
          </a:p>
        </p:txBody>
      </p:sp>
      <p:sp>
        <p:nvSpPr>
          <p:cNvPr id="18" name="Recommendation card 4"/>
          <p:cNvSpPr/>
          <p:nvPr/>
        </p:nvSpPr>
        <p:spPr>
          <a:xfrm>
            <a:off x="457200" y="292608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Number circle 4"/>
          <p:cNvSpPr/>
          <p:nvPr/>
        </p:nvSpPr>
        <p:spPr>
          <a:xfrm>
            <a:off x="594360" y="3063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03580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Add lighter items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703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Only 8 of 57 items are under 300 calories</a:t>
            </a:r>
            <a:endParaRPr lang="en-US" sz="1400" dirty="0"/>
          </a:p>
        </p:txBody>
      </p:sp>
      <p:sp>
        <p:nvSpPr>
          <p:cNvPr id="23" name="Recommendation card 5"/>
          <p:cNvSpPr/>
          <p:nvPr/>
        </p:nvSpPr>
        <p:spPr>
          <a:xfrm>
            <a:off x="3291840" y="292608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Number circle 5"/>
          <p:cNvSpPr/>
          <p:nvPr/>
        </p:nvSpPr>
        <p:spPr>
          <a:xfrm>
            <a:off x="3429000" y="3063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2900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303580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Cut fat in multi-patty burgers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703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Lighter cheese or sauce lowers calories and saturated fat</a:t>
            </a:r>
            <a:endParaRPr lang="en-US" sz="1400" dirty="0"/>
          </a:p>
        </p:txBody>
      </p:sp>
      <p:sp>
        <p:nvSpPr>
          <p:cNvPr id="28" name="Recommendation card 6"/>
          <p:cNvSpPr/>
          <p:nvPr/>
        </p:nvSpPr>
        <p:spPr>
          <a:xfrm>
            <a:off x="6126480" y="292608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Number circle 6"/>
          <p:cNvSpPr/>
          <p:nvPr/>
        </p:nvSpPr>
        <p:spPr>
          <a:xfrm>
            <a:off x="6263640" y="3063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6364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766560" y="303580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Collect price and sales data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263640" y="3703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Link nutrition to what customers buy and pay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red circle"/>
          <p:cNvSpPr/>
          <p:nvPr/>
        </p:nvSpPr>
        <p:spPr>
          <a:xfrm>
            <a:off x="7406640" y="3291840"/>
            <a:ext cx="1280160" cy="12801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Decor gold circle"/>
          <p:cNvSpPr/>
          <p:nvPr/>
        </p:nvSpPr>
        <p:spPr>
          <a:xfrm>
            <a:off x="6858000" y="39319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731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164592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McDonald's ranges from a 140-calorie salad to a 2,430-calorie sharing platter. The extremes come from large, fried, breaded portions, while salads and grilled chicken are the lightest, highest-value choices. Better labelling and more light options would help customers choose well.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Thank you.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lden Arches Navy">
  <a:themeElements>
    <a:clrScheme name="Golden Arches Navy">
      <a:dk1>
        <a:srgbClr val="1A1A1A"/>
      </a:dk1>
      <a:lt1>
        <a:srgbClr val="FFFFFF"/>
      </a:lt1>
      <a:dk2>
        <a:srgbClr val="22304D"/>
      </a:dk2>
      <a:lt2>
        <a:srgbClr val="F3F4F7"/>
      </a:lt2>
      <a:accent1>
        <a:srgbClr val="DA291C"/>
      </a:accent1>
      <a:accent2>
        <a:srgbClr val="F5A800"/>
      </a:accent2>
      <a:accent3>
        <a:srgbClr val="2E7D5B"/>
      </a:accent3>
      <a:accent4>
        <a:srgbClr val="3B6FB6"/>
      </a:accent4>
      <a:accent5>
        <a:srgbClr val="8C5A2B"/>
      </a:accent5>
      <a:accent6>
        <a:srgbClr val="6B7280"/>
      </a:accent6>
      <a:hlink>
        <a:srgbClr val="3B6FB6"/>
      </a:hlink>
      <a:folHlink>
        <a:srgbClr val="6B7280"/>
      </a:folHlink>
    </a:clrScheme>
    <a:fontScheme name="Golden Arches Nav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1533</Words>
  <Application>Microsoft Office PowerPoint</Application>
  <PresentationFormat>On-screen Show (16:9)</PresentationFormat>
  <Paragraphs>207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Golden Arches Navy</vt:lpstr>
      <vt:lpstr>McDonald's : A Diagnostic Analysis</vt:lpstr>
      <vt:lpstr>The project at a glance</vt:lpstr>
      <vt:lpstr>Dataset and limitations</vt:lpstr>
      <vt:lpstr>Cleaning the data</vt:lpstr>
      <vt:lpstr>The dashboard</vt:lpstr>
      <vt:lpstr>Big portions drive calories</vt:lpstr>
      <vt:lpstr>Top 10 and bottom 10 items by calories</vt:lpstr>
      <vt:lpstr>Sodium runs very high</vt:lpstr>
      <vt:lpstr>Sodium and saturated fat by item</vt:lpstr>
      <vt:lpstr>Saturated fat peaks in burgers and big tenders</vt:lpstr>
      <vt:lpstr>Salads are far lighter</vt:lpstr>
      <vt:lpstr>Salads vs non-salads: four measures</vt:lpstr>
      <vt:lpstr>Best protein per calorie</vt:lpstr>
      <vt:lpstr>Most protein for the fewest calories</vt:lpstr>
      <vt:lpstr>Fat drives calories</vt:lpstr>
      <vt:lpstr>Almost half the menu is high calorie</vt:lpstr>
      <vt:lpstr>Diagnostic summary</vt:lpstr>
      <vt:lpstr>Recommendations</vt:lpstr>
      <vt:lpstr>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McDonald's Nutrition: A Diagnostic Analysis</dc:title>
  <dc:subject>PptxGenJS Presentation</dc:subject>
  <dc:creator>Gangothri M C</dc:creator>
  <cp:lastModifiedBy>Admin</cp:lastModifiedBy>
  <cp:revision>3</cp:revision>
  <dcterms:created xsi:type="dcterms:W3CDTF">2026-10-14T10:03:18Z</dcterms:created>
  <dcterms:modified xsi:type="dcterms:W3CDTF">2026-10-14T12:04:50Z</dcterms:modified>
</cp:coreProperties>
</file>